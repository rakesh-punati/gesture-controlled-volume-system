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60" r:id="rId5"/>
    <p:sldId id="261" r:id="rId6"/>
    <p:sldId id="263" r:id="rId7"/>
    <p:sldId id="262" r:id="rId8"/>
    <p:sldId id="264" r:id="rId9"/>
    <p:sldId id="270" r:id="rId10"/>
    <p:sldId id="268" r:id="rId11"/>
    <p:sldId id="265" r:id="rId12"/>
    <p:sldId id="266" r:id="rId13"/>
    <p:sldId id="267" r:id="rId14"/>
    <p:sldId id="259" r:id="rId15"/>
  </p:sldIdLst>
  <p:sldSz cx="12192000" cy="6858000"/>
  <p:notesSz cx="6858000" cy="9144000"/>
  <p:embeddedFontLst>
    <p:embeddedFont>
      <p:font typeface="Libre Baskerville" panose="02000000000000000000" pitchFamily="2" charset="0"/>
      <p:regular r:id="rId17"/>
      <p:bold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>
      <p:cViewPr varScale="1">
        <p:scale>
          <a:sx n="55" d="100"/>
          <a:sy n="55" d="100"/>
        </p:scale>
        <p:origin x="4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02420" y="3726778"/>
            <a:ext cx="818597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Gesture Controlled Volume System</a:t>
            </a:r>
            <a:endParaRPr sz="3500" b="1" i="0" u="none" strike="noStrike" cap="none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2EEAF-CACA-73D8-A4C1-2AD7F3137080}"/>
              </a:ext>
            </a:extLst>
          </p:cNvPr>
          <p:cNvSpPr txBox="1"/>
          <p:nvPr/>
        </p:nvSpPr>
        <p:spPr>
          <a:xfrm>
            <a:off x="8394456" y="5524587"/>
            <a:ext cx="339216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Calibri"/>
                <a:cs typeface="Calibri"/>
              </a:rPr>
              <a:t>Presented by 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RAKESH PUNATI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Calibri"/>
                <a:cs typeface="Calibri"/>
              </a:rPr>
              <a:t>Batch No 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403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Calibri"/>
                <a:cs typeface="Calibri"/>
              </a:rPr>
              <a:t>INNOMATICS RESEARCH LABS,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Calibri"/>
                <a:cs typeface="Calibri"/>
              </a:rPr>
              <a:t>DILSUKHNAGAR, HYDERABAD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826476" y="254977"/>
            <a:ext cx="9959141" cy="123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AGENDA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2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v"/>
            </a:pPr>
            <a:r>
              <a:rPr lang="en-US" sz="2400" b="1" dirty="0"/>
              <a:t>Introduction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v"/>
            </a:pPr>
            <a:r>
              <a:rPr lang="en-US" sz="2400" b="1" dirty="0"/>
              <a:t>Problem Statement</a:t>
            </a:r>
            <a:endParaRPr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v"/>
            </a:pPr>
            <a:r>
              <a:rPr lang="en-US" sz="2400" b="1" dirty="0"/>
              <a:t>Problem Objectives</a:t>
            </a:r>
            <a:endParaRPr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v"/>
            </a:pPr>
            <a:r>
              <a:rPr lang="en-US" sz="2400" b="1" dirty="0"/>
              <a:t>Library Used</a:t>
            </a:r>
            <a:endParaRPr sz="2400" b="1" dirty="0"/>
          </a:p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IN" sz="2400" b="1" dirty="0"/>
              <a:t>System Architecture &amp; Workflow</a:t>
            </a:r>
          </a:p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IN" sz="2400" b="1" dirty="0"/>
              <a:t>Key Features &amp; Gesture Logic</a:t>
            </a:r>
          </a:p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IN" sz="2400" b="1" dirty="0"/>
              <a:t>Challenges &amp; Constraints</a:t>
            </a:r>
          </a:p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IN" sz="2400" b="1" dirty="0"/>
              <a:t>Impact &amp; Future Scope</a:t>
            </a:r>
          </a:p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IN" sz="2400" b="1" dirty="0"/>
              <a:t>Conclusion &amp; Acknowledgments</a:t>
            </a:r>
          </a:p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IN" sz="2400" b="1" dirty="0"/>
              <a:t>Q&amp;A Slide 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395E-C288-B4B0-D82A-30612CD2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INTRODUCTION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E88B2-DD6A-1BD6-78D8-DBBB2E9FE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Touchless system to control system volume using hand gestures.</a:t>
            </a:r>
          </a:p>
          <a:p>
            <a:r>
              <a:rPr lang="en-IN" dirty="0"/>
              <a:t>Uses Computer Vision &amp; AI-based hand tracking.</a:t>
            </a:r>
          </a:p>
          <a:p>
            <a:r>
              <a:rPr lang="en-IN" dirty="0"/>
              <a:t>Detects thumb and index finger distance.</a:t>
            </a:r>
          </a:p>
          <a:p>
            <a:r>
              <a:rPr lang="en-IN" dirty="0"/>
              <a:t>Converts gesture movement into volume up/down commands.</a:t>
            </a:r>
          </a:p>
          <a:p>
            <a:r>
              <a:rPr lang="en-IN" dirty="0"/>
              <a:t>Real-time webcam-based implementation.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33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AD10-FAAC-FFC1-8B6D-180D6BDD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PROBLEM STATEMENT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E7B8D-0E84-045C-ABDD-CC7DA2DA9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9321"/>
            <a:ext cx="5257800" cy="4351338"/>
          </a:xfrm>
        </p:spPr>
        <p:txBody>
          <a:bodyPr/>
          <a:lstStyle/>
          <a:p>
            <a:r>
              <a:rPr lang="en-US" dirty="0"/>
              <a:t>Traditional volume control requires keyboard/mouse.</a:t>
            </a:r>
          </a:p>
          <a:p>
            <a:r>
              <a:rPr lang="en-US" dirty="0"/>
              <a:t>Not hygienic or convenient in all environments.</a:t>
            </a:r>
          </a:p>
          <a:p>
            <a:r>
              <a:rPr lang="en-US" dirty="0"/>
              <a:t>Need for a natural, touch-free human-computer interaction.</a:t>
            </a:r>
          </a:p>
          <a:p>
            <a:r>
              <a:rPr lang="en-US" dirty="0"/>
              <a:t>Build a real-time gesture-based volume controller</a:t>
            </a:r>
            <a:endParaRPr lang="en-IN" dirty="0"/>
          </a:p>
        </p:txBody>
      </p:sp>
      <p:pic>
        <p:nvPicPr>
          <p:cNvPr id="2051" name="Picture 3" descr="Gesture and Voice-Controlled Home Automation System - Hackster.io">
            <a:extLst>
              <a:ext uri="{FF2B5EF4-FFF2-40B4-BE49-F238E27FC236}">
                <a16:creationId xmlns:a16="http://schemas.microsoft.com/office/drawing/2014/main" id="{4D84FA56-8FD8-5957-D246-1D54C860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75" y="1539321"/>
            <a:ext cx="5714035" cy="428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98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342E-036D-FDFE-FE74-940CBE67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PROBLEM OBJECTIVES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BC1EE-D1F1-95DD-3D68-5BD40ECD1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1293" y="1939314"/>
            <a:ext cx="10515600" cy="4351338"/>
          </a:xfrm>
        </p:spPr>
        <p:txBody>
          <a:bodyPr/>
          <a:lstStyle/>
          <a:p>
            <a:r>
              <a:rPr lang="en-US" dirty="0"/>
              <a:t>Detect hand landmarks accurately.</a:t>
            </a:r>
          </a:p>
          <a:p>
            <a:r>
              <a:rPr lang="en-US" dirty="0"/>
              <a:t>Calculate distance between thumb and index finger.</a:t>
            </a:r>
          </a:p>
          <a:p>
            <a:r>
              <a:rPr lang="en-US" dirty="0"/>
              <a:t>Map finger distance to system volume control.</a:t>
            </a:r>
          </a:p>
          <a:p>
            <a:r>
              <a:rPr lang="en-US" dirty="0"/>
              <a:t>Ensure smooth &amp; stable real-time performance.</a:t>
            </a:r>
          </a:p>
          <a:p>
            <a:r>
              <a:rPr lang="en-US" dirty="0"/>
              <a:t>Display FPS and gesture feedback on screen.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79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B80F-6C44-ABD2-1C2A-7244228D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LIBRARY USED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8EF0A-9714-3AEB-9D95-BA8CC51F7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32104"/>
            <a:ext cx="10515600" cy="4351338"/>
          </a:xfrm>
        </p:spPr>
        <p:txBody>
          <a:bodyPr/>
          <a:lstStyle/>
          <a:p>
            <a:r>
              <a:rPr lang="en-IN" b="1" dirty="0"/>
              <a:t>Programming Language: </a:t>
            </a:r>
            <a:r>
              <a:rPr lang="en-IN" dirty="0"/>
              <a:t>Python</a:t>
            </a:r>
          </a:p>
          <a:p>
            <a:r>
              <a:rPr lang="en-IN" b="1" dirty="0"/>
              <a:t>Computer Vision: </a:t>
            </a:r>
            <a:r>
              <a:rPr lang="en-IN" dirty="0"/>
              <a:t>OpenCV</a:t>
            </a:r>
          </a:p>
          <a:p>
            <a:r>
              <a:rPr lang="en-IN" b="1" dirty="0"/>
              <a:t>Hand Tracking: </a:t>
            </a:r>
            <a:r>
              <a:rPr lang="en-IN" dirty="0" err="1"/>
              <a:t>MediaPipe</a:t>
            </a:r>
            <a:endParaRPr lang="en-IN" dirty="0"/>
          </a:p>
          <a:p>
            <a:r>
              <a:rPr lang="en-IN" b="1" dirty="0"/>
              <a:t>System Control: </a:t>
            </a:r>
            <a:r>
              <a:rPr lang="en-IN" dirty="0" err="1"/>
              <a:t>PyAutoGUI</a:t>
            </a:r>
            <a:endParaRPr lang="en-IN" dirty="0"/>
          </a:p>
          <a:p>
            <a:r>
              <a:rPr lang="en-IN" b="1" dirty="0"/>
              <a:t>Numerical Operations: </a:t>
            </a:r>
            <a:r>
              <a:rPr lang="en-IN" dirty="0"/>
              <a:t>NumPy</a:t>
            </a:r>
          </a:p>
        </p:txBody>
      </p:sp>
      <p:pic>
        <p:nvPicPr>
          <p:cNvPr id="4098" name="Picture 2" descr="Get Started With PyAutoGUI 🐍. Python + PyAutoGUI | by Dattanikaran | Medium">
            <a:extLst>
              <a:ext uri="{FF2B5EF4-FFF2-40B4-BE49-F238E27FC236}">
                <a16:creationId xmlns:a16="http://schemas.microsoft.com/office/drawing/2014/main" id="{0D316808-F289-D25C-A12F-CA9AAB5C7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005" y="2110839"/>
            <a:ext cx="4686795" cy="263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19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1F5-0E9A-7344-1812-0BD0464D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SYSTEM ARCHITECTURE AND WORKFLOW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0EF3F-B08A-9806-398A-139B9E1AF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81757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Webcam captures live video</a:t>
            </a:r>
          </a:p>
          <a:p>
            <a:r>
              <a:rPr lang="en-US" dirty="0"/>
              <a:t>Frame converted from BGR → RGB</a:t>
            </a:r>
          </a:p>
          <a:p>
            <a:r>
              <a:rPr lang="en-US" dirty="0" err="1"/>
              <a:t>MediaPipe</a:t>
            </a:r>
            <a:r>
              <a:rPr lang="en-US" dirty="0"/>
              <a:t> detects hand landmarks</a:t>
            </a:r>
          </a:p>
          <a:p>
            <a:r>
              <a:rPr lang="en-US" dirty="0"/>
              <a:t>Extract thumb tip &amp; index tip positions</a:t>
            </a:r>
          </a:p>
          <a:p>
            <a:r>
              <a:rPr lang="en-US" dirty="0"/>
              <a:t>Calculate Euclidean distance</a:t>
            </a:r>
          </a:p>
          <a:p>
            <a:r>
              <a:rPr lang="en-US" dirty="0"/>
              <a:t>Compare with previous distance</a:t>
            </a:r>
          </a:p>
          <a:p>
            <a:r>
              <a:rPr lang="en-US" dirty="0"/>
              <a:t>Trigger volume up/down using </a:t>
            </a:r>
            <a:r>
              <a:rPr lang="en-US" dirty="0" err="1"/>
              <a:t>PyAutoGUI</a:t>
            </a:r>
            <a:endParaRPr lang="en-IN" dirty="0"/>
          </a:p>
        </p:txBody>
      </p:sp>
      <p:pic>
        <p:nvPicPr>
          <p:cNvPr id="5122" name="Picture 2" descr="GitHub - Jeel0710/Desktop-Control-Using-Hand-Gesture: The propose system is  ML based project which can control Windows desktop using only Hand Gestures  that are detected by webcam and perform actions accordingly.">
            <a:extLst>
              <a:ext uri="{FF2B5EF4-FFF2-40B4-BE49-F238E27FC236}">
                <a16:creationId xmlns:a16="http://schemas.microsoft.com/office/drawing/2014/main" id="{153AE26D-01AE-F309-B18B-6A829F11A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846" y="1365662"/>
            <a:ext cx="2795968" cy="465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98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>
            <a:extLst>
              <a:ext uri="{FF2B5EF4-FFF2-40B4-BE49-F238E27FC236}">
                <a16:creationId xmlns:a16="http://schemas.microsoft.com/office/drawing/2014/main" id="{F4BCBC54-2E83-1FA2-42F8-718E408A2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945" y="2315097"/>
            <a:ext cx="6388925" cy="222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41DF5-D7FB-025F-9A00-6046E6AA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GESTURE LOGIC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19E22-EDAF-5746-2594-2FE9B5C29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b="1" dirty="0"/>
              <a:t>Landmark 4 → </a:t>
            </a:r>
            <a:r>
              <a:rPr lang="en-US" dirty="0"/>
              <a:t>Thumb tip</a:t>
            </a:r>
          </a:p>
          <a:p>
            <a:r>
              <a:rPr lang="en-US" b="1" dirty="0"/>
              <a:t>Landmark 8 → </a:t>
            </a:r>
            <a:r>
              <a:rPr lang="en-US" dirty="0"/>
              <a:t>Index finger tip</a:t>
            </a:r>
          </a:p>
          <a:p>
            <a:r>
              <a:rPr lang="en-US" b="1" dirty="0"/>
              <a:t>Distance formula used: </a:t>
            </a:r>
          </a:p>
          <a:p>
            <a:r>
              <a:rPr lang="en-US" b="1" dirty="0"/>
              <a:t>Small distance → </a:t>
            </a:r>
            <a:r>
              <a:rPr lang="en-US" dirty="0"/>
              <a:t>Volume Down</a:t>
            </a:r>
          </a:p>
          <a:p>
            <a:r>
              <a:rPr lang="en-US" b="1" dirty="0"/>
              <a:t>Large distance → </a:t>
            </a:r>
            <a:r>
              <a:rPr lang="en-US" dirty="0"/>
              <a:t>Volume Up</a:t>
            </a:r>
          </a:p>
          <a:p>
            <a:r>
              <a:rPr lang="en-US" dirty="0"/>
              <a:t>Buffer added to reduce shaking noise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3763D-AA3D-534F-6A46-E7892C03E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893" y="5347257"/>
            <a:ext cx="271500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8203-FD4C-05CE-5BE4-3DE89268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KEY FEATURES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9A7AD-C942-17C6-5C62-698442E70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Real-time gesture recognition.</a:t>
            </a:r>
          </a:p>
          <a:p>
            <a:r>
              <a:rPr lang="en-IN" dirty="0"/>
              <a:t>FPS counter display.</a:t>
            </a:r>
          </a:p>
          <a:p>
            <a:r>
              <a:rPr lang="en-IN" dirty="0"/>
              <a:t>Visual feedback (circles &amp; lines)Smooth volume transition.</a:t>
            </a:r>
          </a:p>
          <a:p>
            <a:r>
              <a:rPr lang="en-IN" dirty="0"/>
              <a:t>Noise control using threshold buffer.</a:t>
            </a:r>
          </a:p>
          <a:p>
            <a:r>
              <a:rPr lang="en-IN" dirty="0"/>
              <a:t>Lightweight &amp; efficient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94820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7340E-2B48-91FE-F88D-34744D9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PROJECT OUTPUT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6D151-33BC-E8C9-5730-121325B4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51000"/>
            <a:ext cx="5926238" cy="4968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707F8-8A65-5DB1-3E0E-2B113175A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01" y="1751000"/>
            <a:ext cx="6235899" cy="496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7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16D7-6843-00DD-6046-69A98159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CHALLENGES AND CONSTRAINTS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2E460-798F-143B-43F5-FEA87E100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Sensitive to lighting conditions.</a:t>
            </a:r>
          </a:p>
          <a:p>
            <a:r>
              <a:rPr lang="en-US" dirty="0"/>
              <a:t>Camera quality affects detection accuracy.</a:t>
            </a:r>
          </a:p>
          <a:p>
            <a:r>
              <a:rPr lang="en-US" dirty="0"/>
              <a:t>Hand shaking causes unstable control.</a:t>
            </a:r>
          </a:p>
          <a:p>
            <a:r>
              <a:rPr lang="en-US" dirty="0"/>
              <a:t>Requires proper finger visibility.</a:t>
            </a:r>
          </a:p>
          <a:p>
            <a:r>
              <a:rPr lang="en-US" dirty="0"/>
              <a:t>FPS drops on low-performance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97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A16D-DD4B-7342-D064-0AB2C8E2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FUTURE SCOPE AND IMPACT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3BCC5-7CFA-0D2C-D28D-E526EFA8C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brightness control gesture</a:t>
            </a:r>
          </a:p>
          <a:p>
            <a:r>
              <a:rPr lang="en-US" dirty="0"/>
              <a:t>Control music play/pause</a:t>
            </a:r>
          </a:p>
          <a:p>
            <a:r>
              <a:rPr lang="en-US" dirty="0"/>
              <a:t>Multi-hand gesture recognition</a:t>
            </a:r>
          </a:p>
          <a:p>
            <a:r>
              <a:rPr lang="en-US" dirty="0"/>
              <a:t>Integration with IoT devices</a:t>
            </a:r>
          </a:p>
          <a:p>
            <a:r>
              <a:rPr lang="en-US" dirty="0"/>
              <a:t>Deploy as desktop application</a:t>
            </a:r>
          </a:p>
        </p:txBody>
      </p:sp>
    </p:spTree>
    <p:extLst>
      <p:ext uri="{BB962C8B-B14F-4D97-AF65-F5344CB8AC3E}">
        <p14:creationId xmlns:p14="http://schemas.microsoft.com/office/powerpoint/2010/main" val="3641490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8407-35BC-1590-1D49-18C7F197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1"/>
                </a:solidFill>
              </a:rPr>
              <a:t>CONCLUSION</a:t>
            </a:r>
            <a:endParaRPr lang="en-IN" b="1" u="sng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D448E-3E00-14CF-AACF-188715557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Successfully implemented gesture-based volume control</a:t>
            </a:r>
          </a:p>
          <a:p>
            <a:r>
              <a:rPr lang="en-US" dirty="0"/>
              <a:t>Demonstrates real-time computer vision application</a:t>
            </a:r>
          </a:p>
          <a:p>
            <a:r>
              <a:rPr lang="en-US" dirty="0"/>
              <a:t>Enhances Human-Computer Interaction</a:t>
            </a:r>
          </a:p>
          <a:p>
            <a:r>
              <a:rPr lang="en-US" dirty="0"/>
              <a:t>Cost-effective and touchless solution</a:t>
            </a:r>
          </a:p>
          <a:p>
            <a:r>
              <a:rPr lang="en-US" dirty="0"/>
              <a:t>Can be extended for smart automation systems.</a:t>
            </a:r>
          </a:p>
        </p:txBody>
      </p:sp>
    </p:spTree>
    <p:extLst>
      <p:ext uri="{BB962C8B-B14F-4D97-AF65-F5344CB8AC3E}">
        <p14:creationId xmlns:p14="http://schemas.microsoft.com/office/powerpoint/2010/main" val="187004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372</Words>
  <Application>Microsoft Office PowerPoint</Application>
  <PresentationFormat>Widescreen</PresentationFormat>
  <Paragraphs>80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Wingdings</vt:lpstr>
      <vt:lpstr>Libre Baskerville</vt:lpstr>
      <vt:lpstr>Office Theme</vt:lpstr>
      <vt:lpstr>PowerPoint Presentation</vt:lpstr>
      <vt:lpstr>AGENDA</vt:lpstr>
      <vt:lpstr>INTRODUCTION</vt:lpstr>
      <vt:lpstr>PROBLEM STATEMENT</vt:lpstr>
      <vt:lpstr>PROBLEM OBJECTIVES</vt:lpstr>
      <vt:lpstr>LIBRARY USED</vt:lpstr>
      <vt:lpstr>SYSTEM ARCHITECTURE AND WORKFLOW</vt:lpstr>
      <vt:lpstr>GESTURE LOGIC</vt:lpstr>
      <vt:lpstr>KEY FEATURES</vt:lpstr>
      <vt:lpstr>PROJECT OUTPUT</vt:lpstr>
      <vt:lpstr>CHALLENGES AND CONSTRAINTS</vt:lpstr>
      <vt:lpstr>FUTURE SCOPE AND IMPACT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RAKESH P</cp:lastModifiedBy>
  <cp:revision>25</cp:revision>
  <dcterms:created xsi:type="dcterms:W3CDTF">2021-02-16T05:19:01Z</dcterms:created>
  <dcterms:modified xsi:type="dcterms:W3CDTF">2026-02-14T07:35:17Z</dcterms:modified>
</cp:coreProperties>
</file>